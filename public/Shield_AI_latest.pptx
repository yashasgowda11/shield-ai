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27ca97062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e27ca97062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e27ca97062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27ca97062_3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e27ca97062_3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e27ca97062_3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e27ca97062_3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e27ca97062_3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g3e27ca97062_3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27ca97062_3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e27ca97062_3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g3e27ca97062_3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e27ca97062_3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g3e27ca97062_3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e27ca97062_3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e27ca97062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e27ca97062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3" name="Google Shape;653;g3e27ca97062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e27ca97062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e27ca97062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g3e27ca97062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27ca97062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3e27ca97062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g3e27ca97062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e27ca9706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e27ca97062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e27ca97062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e27ca97062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e27ca97062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e27ca97062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e27ca97062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e27ca97062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g3e27ca97062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27ca97062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e27ca97062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g3e27ca97062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2743200" y="-2743200"/>
            <a:ext cx="4114800" cy="4114800"/>
          </a:xfrm>
          <a:prstGeom prst="ellipse">
            <a:avLst/>
          </a:prstGeom>
          <a:solidFill>
            <a:srgbClr val="0D9488">
              <a:alpha val="1215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0" y="2926080"/>
            <a:ext cx="4114800" cy="4114800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411480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400"/>
              <a:buFont typeface="Calibri"/>
              <a:buNone/>
            </a:pPr>
            <a:r>
              <a:rPr b="1" i="0" lang="en-US" sz="8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SHIELD AI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" y="178308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Enterprise Contract Intelligence 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1371600" y="2423160"/>
            <a:ext cx="640080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9966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966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8254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8254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Security-First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6542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6542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Fully Auditable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830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830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Cloud-Native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85216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85216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~15s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85216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212848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2212848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2212848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840480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840480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840480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468112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468112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68112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Automated Test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095744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095744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095744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Contract Review Crisis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enterprise legal teams are overwhelmed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84632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4632" y="868680"/>
            <a:ext cx="192024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4632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76072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Days to Weeks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94360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single enterprise contract review can take 3–5 business days involving multiple legal specialists, back-and-forth revisions, and scheduling delays.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569464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569464" y="868680"/>
            <a:ext cx="192024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569464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660904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High Error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9192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Human reviewers miss compliance violations, hidden adversarial clauses, and prompt-injection attacks buried in dense legalese.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654296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654296" y="868680"/>
            <a:ext cx="192024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654296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745736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Enormous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64024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Enterprise legal teams spend $1,000–$5,000 per contract in attorney time — multiplied across hundreds of contracts per month.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739128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739128" y="868680"/>
            <a:ext cx="192024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739128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830568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No Security Gate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848856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Traditional AI tools pass documents directly to LLMs — leaving organisations exposed to prompt injection attacks and hidden malicious payloads.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Introducing Shield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production-grade AI governance platform for enterprise contract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86868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Shield AI automates the review, risk scoring, compliance checking, and approval routing of enterprise contracts using a multi-agent AI pipeline — from upload to decision in seconds, not days.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65760" y="1965960"/>
            <a:ext cx="4023360" cy="13716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65760" y="201168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~15 sec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65760" y="27432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→ auto-approval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65760" y="34747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Low-risk contracts approved automatically · High-risk routed to humans · Adversarial documents quarantined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63440" y="86868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663440" y="868680"/>
            <a:ext cx="2029968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97840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754880" y="138074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Structured clause extraction from PDF &amp; DOCX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830568" y="86868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830568" y="868680"/>
            <a:ext cx="2029968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922008" y="97840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922008" y="138074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Risk scoring 0–100 with configurable policy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663440" y="233172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63440" y="2331720"/>
            <a:ext cx="2029968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754880" y="244144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Comply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754880" y="284378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HIPAA · GDPR · CCPA · SOC 2 · PCI-DSS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30568" y="233172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30568" y="2331720"/>
            <a:ext cx="202996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922008" y="244144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922008" y="284378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Two-layer gate blocks attacks before any LLM 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63440" y="379476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663440" y="3794760"/>
            <a:ext cx="2029968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54880" y="390448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754880" y="430682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Auto-approve, escalate, or reject — deterministically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830568" y="379476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830568" y="3794760"/>
            <a:ext cx="2029968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922008" y="390448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922008" y="430682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Immutable append-only log of every decision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Multi-Agent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sequential agents · Pydantic-validated JSON outputs · Automatic fallback to Gemini 1.5 Flash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50976" y="1069848"/>
            <a:ext cx="292608" cy="29260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50976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12064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12064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Lobster Trap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 Offline Detector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1737360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" name="Google Shape;121;p6"/>
          <p:cNvSpPr/>
          <p:nvPr/>
        </p:nvSpPr>
        <p:spPr>
          <a:xfrm>
            <a:off x="457200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02920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Synchronous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at upload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847088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847088" y="960120"/>
            <a:ext cx="128016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340864" y="1069848"/>
            <a:ext cx="292608" cy="29260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340864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901952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901952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2.5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Flash-Lite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3127248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" name="Google Shape;130;p6"/>
          <p:cNvSpPr/>
          <p:nvPr/>
        </p:nvSpPr>
        <p:spPr>
          <a:xfrm>
            <a:off x="1847088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892808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Type · Parties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Jurisdiction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236976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236976" y="960120"/>
            <a:ext cx="12801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730752" y="1069848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730752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291840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291840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+ RAG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4517136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6"/>
          <p:cNvSpPr/>
          <p:nvPr/>
        </p:nvSpPr>
        <p:spPr>
          <a:xfrm>
            <a:off x="3236976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282696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Structured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Clause JSON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626864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626864" y="960120"/>
            <a:ext cx="128016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120640" y="1069848"/>
            <a:ext cx="292608" cy="29260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120640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681728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681728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+ RAG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5907024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6"/>
          <p:cNvSpPr/>
          <p:nvPr/>
        </p:nvSpPr>
        <p:spPr>
          <a:xfrm>
            <a:off x="4626864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672584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Score 0–100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Clause Findings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016752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016752" y="960120"/>
            <a:ext cx="128016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510528" y="1069848"/>
            <a:ext cx="292608" cy="29260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510528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071616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071616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+ RAG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>
            <a:off x="7296912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6"/>
          <p:cNvSpPr/>
          <p:nvPr/>
        </p:nvSpPr>
        <p:spPr>
          <a:xfrm>
            <a:off x="6016752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062472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HIPAA GDPR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CCPA SOC2 PCI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406640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406640" y="960120"/>
            <a:ext cx="128016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900416" y="1069848"/>
            <a:ext cx="292608" cy="2926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900416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461504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461504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Rules-based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(No LLM)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406640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452360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AUTO_APPROVE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or Escalate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RAG context injected at Agents 2, 3 &amp; 4  ·  Each output is Pydantic-validated JSON  ·  Pipeline continues on single-agent failure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Security-First: Two-Layer Gate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document is scanned BEFORE any LLM ever sees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65760" y="868680"/>
            <a:ext cx="3977640" cy="4114800"/>
          </a:xfrm>
          <a:prstGeom prst="rect">
            <a:avLst/>
          </a:prstGeom>
          <a:solidFill>
            <a:srgbClr val="162340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26280" y="868680"/>
            <a:ext cx="4160520" cy="4114800"/>
          </a:xfrm>
          <a:prstGeom prst="rect">
            <a:avLst/>
          </a:prstGeom>
          <a:solidFill>
            <a:srgbClr val="162340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5760" y="86868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" y="117043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Veea Lobster Trap  (DPI Proxy)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02920" y="166420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Deep Packet Inspection of raw HTTP streams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02920" y="206654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Pattern-matches prompt injection templates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02920" y="24688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Detects CSS-invisible &amp; hidden text attacks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02920" y="287121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Scans for white-on-white character tricks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02920" y="327355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Runs as a separate Docker sidecar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02920" y="367588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Independent of all LLM calls — always-on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26280" y="868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26280" y="1170432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Offline Pattern Detector  (Regex)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663440" y="1664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Falls back automatically if Lobster Trap is unreachable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663440" y="2066544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Regex library of known adversarial payloads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663440" y="246888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Zero LLM dependency — works fully offline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663440" y="287121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Detects known injection phrase templates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663440" y="327355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Configurable timeout via LOBSTERTRAP_TIMEOUT_SEC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663440" y="36758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Quarantine status stored in security_events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Adversarial contracts never reach the LLM  ·  Quarantined contracts visible in the Security Dashboard  ·  Every event logged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Agent Deep Dive: Security Gate &amp; Classifier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0 &amp; 1 — First two steps in every pipeline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7432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11480" y="896112"/>
            <a:ext cx="292608" cy="29260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1148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9552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Security Gate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1148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05156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Veea Lobster Trap + Offline Detector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1148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51560" y="16642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Raw PDF/DOCX text before any 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11480" y="2011680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051560" y="20116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QUARANTINE or PASS decision · Threat type &amp; description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411480" y="2560320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8"/>
          <p:cNvSpPr/>
          <p:nvPr/>
        </p:nvSpPr>
        <p:spPr>
          <a:xfrm>
            <a:off x="411480" y="26334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Runs synchronously at upload — before background pipeline starts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11480" y="30723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Detected: prompt injection, CSS-hidden text, white-on-white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11480" y="35112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Fallback offline pattern detector fires if proxy unreachable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" y="39502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findings logged to security_events table with severity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11480" y="438912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Quarantined contracts never proceed to any LLM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75488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892040" y="896112"/>
            <a:ext cx="292608" cy="29260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89204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27608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Contract Classifier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9204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53212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2.5 Flash-Lite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89204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532120" y="16642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 extracted contract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892040" y="2011680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532120" y="20116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type · Governing jurisdiction · Party names · Pydantic schema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8"/>
          <p:cNvCxnSpPr/>
          <p:nvPr/>
        </p:nvCxnSpPr>
        <p:spPr>
          <a:xfrm>
            <a:off x="4892040" y="2560320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8"/>
          <p:cNvSpPr/>
          <p:nvPr/>
        </p:nvSpPr>
        <p:spPr>
          <a:xfrm>
            <a:off x="4892040" y="26334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Identifies: NDA, Vendor, Employment, DPA, SaaS, Finance &amp; more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92040" y="30723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Extracts both party names and their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92040" y="35112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Determines governing law and jurisdiction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892040" y="39502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Classification informs later agents' prompts &amp; RAG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892040" y="438912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 stored in agent_outputs table with prompt hash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Agent Deep Dive: Extraction &amp; Risk Assessment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2 &amp; 3 — RAG-grounded extraction and clause-level 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7432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11480" y="896112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1148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9552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Clause Extraction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1148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05156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Embedding Mode + 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1148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05156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 contract text + similar past contracts (via Pinecone retrieval)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1148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5156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Clauses array — title, full text, page number, clause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9"/>
          <p:cNvCxnSpPr/>
          <p:nvPr/>
        </p:nvCxnSpPr>
        <p:spPr>
          <a:xfrm>
            <a:off x="41148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9"/>
          <p:cNvSpPr/>
          <p:nvPr/>
        </p:nvSpPr>
        <p:spPr>
          <a:xfrm>
            <a:off x="41148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retrieves similar past contracts to improve extraction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1148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Each clause tagged with a semantic type (Liability, IP, Payment…)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1148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Page numbers preserved for citation in the review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1148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Extraction prompt versioned in prompts/ directory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1148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Fallback segmentation if LLM extraction fails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75488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892040" y="896112"/>
            <a:ext cx="292608" cy="29260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9204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27608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 Assessment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9204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53212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2.5 Flash-Lite + 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89204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53212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Extracted clauses + prior risk findings (via Pinecone retrieval)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89204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53212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Overall risk score 0–100 · Per-clause risk findings · Severity levels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9"/>
          <p:cNvCxnSpPr/>
          <p:nvPr/>
        </p:nvCxnSpPr>
        <p:spPr>
          <a:xfrm>
            <a:off x="489204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9"/>
          <p:cNvSpPr/>
          <p:nvPr/>
        </p:nvSpPr>
        <p:spPr>
          <a:xfrm>
            <a:off x="489204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Each clause scored independently against risk policy 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89204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grounds scores on precedent from past contract 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89204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Output: overall score + clause-level findings with reasoning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89204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feeds directly into Approval Routing agent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89204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findings stored in agent_outputs table with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Agent Deep Dive: Compliance &amp; Approval Routing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4 &amp; 5 — Regulatory check and deterministic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7432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11480" y="896112"/>
            <a:ext cx="292608" cy="29260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1148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79552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Compliance Check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1148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05156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2.5 Flash-Lite + RAG (policy corpus)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1148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05156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Extracted clauses + HIPAA / GDPR / SOC 2 policy snippets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1148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05156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Violation list — framework, clause, severity, description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0"/>
          <p:cNvCxnSpPr/>
          <p:nvPr/>
        </p:nvCxnSpPr>
        <p:spPr>
          <a:xfrm>
            <a:off x="41148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0"/>
          <p:cNvSpPr/>
          <p:nvPr/>
        </p:nvSpPr>
        <p:spPr>
          <a:xfrm>
            <a:off x="41148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retrieves relevant regulatory snippets from corpus/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1148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Checks: HIPAA, GDPR, CCPA, SOC 2, PCI-DSS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1148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Each violation tagged with framework, clause reference &amp; severity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1148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Critical violations can force REJECT regardless of risk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1148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Corpus bundled in Docker image — no cold-start delay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75488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892040" y="896112"/>
            <a:ext cx="292608" cy="2926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9204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27608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Approval Routing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89204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53212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Rules-based engine (No LLM call)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89204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53212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 score + compliance violations + active scoring policy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89204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53212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Decision: AUTO_APPROVE / MANAGER_REVIEW / LEGAL_REVIEW / REJECT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0"/>
          <p:cNvCxnSpPr/>
          <p:nvPr/>
        </p:nvCxnSpPr>
        <p:spPr>
          <a:xfrm>
            <a:off x="489204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0"/>
          <p:cNvSpPr/>
          <p:nvPr/>
        </p:nvSpPr>
        <p:spPr>
          <a:xfrm>
            <a:off x="489204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Fully deterministic — same inputs always produce same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89204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Reads active scoring policy from the database (runtime editable)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89204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Default thresholds: 0-30 Auto · 31-60 Manager · 61-80 Legal · 81+ Reject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89204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 violations can override score-based routing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89204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Writes templated rationale saved in decisions 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grounds every AI decision in precedent and policy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74320" y="841248"/>
            <a:ext cx="2560320" cy="4114800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274320" y="84124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CORPUS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384048" y="1261872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75488" y="1280160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Past Contracts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75488" y="1481328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Anonymised prior reviews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84048" y="1737360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75488" y="1755648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HIPAA Guidelines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75488" y="1956816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Policy corpus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84048" y="2212848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75488" y="2231136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GDPR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75488" y="2432304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Regulatory docs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84048" y="2688336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75488" y="2706624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SOC 2 Controls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75488" y="2907792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Compliance corpus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84048" y="3163824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75488" y="3182112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PCI-DSS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75488" y="3383280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Regulatory docs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84048" y="3639312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75488" y="3657600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CCPA Requirements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75488" y="3858768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Privacy corpus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1"/>
          <p:cNvCxnSpPr/>
          <p:nvPr/>
        </p:nvCxnSpPr>
        <p:spPr>
          <a:xfrm>
            <a:off x="2834640" y="288036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11"/>
          <p:cNvSpPr/>
          <p:nvPr/>
        </p:nvSpPr>
        <p:spPr>
          <a:xfrm>
            <a:off x="3200400" y="1554480"/>
            <a:ext cx="2743200" cy="26517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200400" y="157276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Pinecone Vector 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200400" y="19659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FAISS (in-memory, dev)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11"/>
          <p:cNvCxnSpPr/>
          <p:nvPr/>
        </p:nvCxnSpPr>
        <p:spPr>
          <a:xfrm>
            <a:off x="3337560" y="233172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1"/>
          <p:cNvSpPr/>
          <p:nvPr/>
        </p:nvSpPr>
        <p:spPr>
          <a:xfrm>
            <a:off x="3310128" y="2423160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embedding-001 (3072 dims)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3310128" y="2843784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Cosine similarity retrieval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310128" y="3264408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Top-k chunks returned per query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3310128" y="3685032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Corpus bundled in Docker image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11"/>
          <p:cNvCxnSpPr/>
          <p:nvPr/>
        </p:nvCxnSpPr>
        <p:spPr>
          <a:xfrm>
            <a:off x="5943600" y="288036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1"/>
          <p:cNvSpPr/>
          <p:nvPr/>
        </p:nvSpPr>
        <p:spPr>
          <a:xfrm>
            <a:off x="6263640" y="841248"/>
            <a:ext cx="2606040" cy="4114800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263640" y="84124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RAG CONSUMERS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373368" y="1261872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464808" y="129844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Agent 2 ·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464808" y="15544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Past contracts for clause context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373368" y="1975104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464808" y="20116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Agent 3 ·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464808" y="22677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Prior risk findings as precedent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373368" y="2688336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464808" y="2724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Agent 4 ·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464808" y="298094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Regulatory snippets from corpus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6373368" y="3401568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6464808" y="343814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Agent 6 · Q&amp;A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464808" y="369417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Contract text for NL answers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Chosen for production reliability, observability, and cloud-native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256032" y="841248"/>
            <a:ext cx="2798064" cy="4114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256032" y="841248"/>
            <a:ext cx="2798064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347472" y="8869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365760" y="1325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280160" y="132588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FastAPI 0.110+ (Python 3.11)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365760" y="17099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ORM: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280160" y="17099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SQLAlchemy 2.0 + Alembic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365760" y="20939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DB (dev):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1280160" y="209397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365760" y="24780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DB (prod):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280160" y="24780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PostgreSQL · Cloud SQL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365760" y="286207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1280160" y="2862072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2.5 Flash-Lite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65760" y="32461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Embeddings: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280160" y="32461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embedding-001 (3072d)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65760" y="363016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Parsing: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1280160" y="363016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pdfplumber · python-docx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365760" y="40142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HTTP Client: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280160" y="401421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httpx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365760" y="439826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Validation: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280160" y="439826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Pydantic v2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191256" y="841248"/>
            <a:ext cx="2798064" cy="4114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3191256" y="841248"/>
            <a:ext cx="2798064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282696" y="8869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3300984" y="1325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215384" y="132588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Next.js 16.2 (App Router)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3300984" y="17099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Language: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215384" y="17099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TypeScript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3300984" y="20939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Styling: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215384" y="209397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Tailwind CSS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3300984" y="24780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Charts: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215384" y="24780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Recharts 3.8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3300984" y="286207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Icons: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215384" y="2862072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Lucide React 1.14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3300984" y="32461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215384" y="32461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Zustand 5.0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3300984" y="363016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215384" y="363016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Native fetch via proxy route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3300984" y="40142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4215384" y="401421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output: standalone (Docker)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3300984" y="439826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UI: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4215384" y="439826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12 App Router pages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6126480" y="841248"/>
            <a:ext cx="2798064" cy="4114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6126480" y="841248"/>
            <a:ext cx="2798064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6217920" y="8869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6236208" y="1325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7150608" y="132588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Docker · docker-compose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6236208" y="17099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CI/CD: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7150608" y="17099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Cloud Build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6236208" y="20939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Hosting: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7150608" y="209397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Cloud Run (3 svcs)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6236208" y="24780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Registry: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7150608" y="24780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Artifact Registry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236208" y="286207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Secrets: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7150608" y="2862072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Secret Manager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236208" y="32461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Vector DB: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7150608" y="32461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Pinecone (cosine, 3072d)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236208" y="363016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RAG fallback: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7150608" y="363016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FAISS in-memory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236208" y="40142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Storage: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7150608" y="401421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Cloud Storage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236208" y="439826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7150608" y="439826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Veea Lobster Trap (DPI)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Frontend &amp; User Experience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App Router pages · Responsive · Real-time agent progress · Role-aware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274320" y="841248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274320" y="841248"/>
            <a:ext cx="457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11480" y="877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/home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411480" y="11155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Dashboard 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2697480" y="93268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 health · Live pipeline stats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4709160" y="841248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4709160" y="841248"/>
            <a:ext cx="45720" cy="7498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4846320" y="877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/upload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4846320" y="11155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Upload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7132320" y="93268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Drag-and-drop · Real-time agent progress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274320" y="1682496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274320" y="1682496"/>
            <a:ext cx="45720" cy="7498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411480" y="17190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/contracts/[id]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411480" y="19568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2697480" y="1773936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Clauses · Risk breakdown · Agent outputs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4709160" y="1682496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709160" y="1682496"/>
            <a:ext cx="45720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4846320" y="17190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/queue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4846320" y="19568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Review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7132320" y="1773936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Role-gated · Assign · Comment · Approve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274320" y="2523744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274320" y="2523744"/>
            <a:ext cx="45720" cy="7498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11480" y="2560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/dashboard/risk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411480" y="27980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2697480" y="2615184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distribution chart · High-risk list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4709160" y="2523744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709160" y="2523744"/>
            <a:ext cx="45720" cy="7498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846320" y="2560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/dashboard/security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4846320" y="27980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7132320" y="2615184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Threat timeline · Quarantine history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274320" y="336499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274320" y="3364992"/>
            <a:ext cx="45720" cy="749808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11480" y="340156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/ask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11480" y="36393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Ask Shield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2697480" y="3456432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NL Q&amp;A on contracts · Text-to-SQL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709160" y="336499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709160" y="3364992"/>
            <a:ext cx="45720" cy="74980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846320" y="340156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/audit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4846320" y="36393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7132320" y="3456432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Filterable · Paginated · Append-only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274320" y="4206240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274320" y="4206240"/>
            <a:ext cx="45720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11480" y="424281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/scoring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11480" y="4480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Scoring Policy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2697480" y="429768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editor · Risk simulator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709160" y="4206240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4709160" y="4206240"/>
            <a:ext cx="457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4846320" y="424281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/samples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846320" y="4480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Sample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7132320" y="429768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 contracts · PDF preview · Upload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 API calls proxied server-side via Next.js  —  No CORS configuration needed  —  Backend URL never exposed to browser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4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roles · Separate queues · Assignment flow · Commenting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365760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365760" y="841248"/>
            <a:ext cx="1572768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38912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Procurement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438912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438912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uploaded · processing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14"/>
          <p:cNvCxnSpPr/>
          <p:nvPr/>
        </p:nvCxnSpPr>
        <p:spPr>
          <a:xfrm>
            <a:off x="438912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p14"/>
          <p:cNvSpPr/>
          <p:nvPr/>
        </p:nvSpPr>
        <p:spPr>
          <a:xfrm>
            <a:off x="438912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438912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Upload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438912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View own uploads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38912" y="3291840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438912" y="349300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438912" y="3785616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438912" y="4078224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Access audit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075688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2075688" y="841248"/>
            <a:ext cx="1572768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2148840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Legal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Reviewer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2148840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2148840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14"/>
          <p:cNvCxnSpPr/>
          <p:nvPr/>
        </p:nvCxnSpPr>
        <p:spPr>
          <a:xfrm>
            <a:off x="2148840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14"/>
          <p:cNvSpPr/>
          <p:nvPr/>
        </p:nvSpPr>
        <p:spPr>
          <a:xfrm>
            <a:off x="2148840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2148840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Approve / Reject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2148840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Assign to any 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2148840" y="320040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2148840" y="363931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2148840" y="384048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3785616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3785616" y="841248"/>
            <a:ext cx="1572768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3858768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Officer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3858768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3858768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4" name="Google Shape;534;p14"/>
          <p:cNvCxnSpPr/>
          <p:nvPr/>
        </p:nvCxnSpPr>
        <p:spPr>
          <a:xfrm>
            <a:off x="3858768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14"/>
          <p:cNvSpPr/>
          <p:nvPr/>
        </p:nvSpPr>
        <p:spPr>
          <a:xfrm>
            <a:off x="3858768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3858768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Approve / Reject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3858768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Assign to any 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3858768" y="320040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3858768" y="363931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3858768" y="384048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5495544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5495544" y="841248"/>
            <a:ext cx="1572768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5568696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Executive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5568696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5568696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manager_review · 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4"/>
          <p:cNvCxnSpPr/>
          <p:nvPr/>
        </p:nvCxnSpPr>
        <p:spPr>
          <a:xfrm>
            <a:off x="5568696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14"/>
          <p:cNvSpPr/>
          <p:nvPr/>
        </p:nvSpPr>
        <p:spPr>
          <a:xfrm>
            <a:off x="5568696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5568696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View all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5568696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5568696" y="3291840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5568696" y="349300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5568696" y="3785616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5568696" y="4078224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7205472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7205472" y="841248"/>
            <a:ext cx="1572768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7278624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Auditor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7278624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7278624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manager_review · 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14"/>
          <p:cNvCxnSpPr/>
          <p:nvPr/>
        </p:nvCxnSpPr>
        <p:spPr>
          <a:xfrm>
            <a:off x="7278624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14"/>
          <p:cNvSpPr/>
          <p:nvPr/>
        </p:nvSpPr>
        <p:spPr>
          <a:xfrm>
            <a:off x="7278624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7278624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View full audit 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7278624" y="3291840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7278624" y="349300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7278624" y="3785616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7278624" y="4078224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Role selected from queue page header  ·  No authentication required (simulation)  ·  Review Queue filters by role automatically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7278621" y="2898703"/>
            <a:ext cx="142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 Scoring Engine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Configurable policy · Runtime editing · No redeploy needed · Full version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365760" y="932688"/>
            <a:ext cx="2523744" cy="6583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365760" y="93268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AUTO_APPROVE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 –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2889504" y="932688"/>
            <a:ext cx="2523744" cy="6583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2889504" y="93268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MANAGER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31 – 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5413248" y="932688"/>
            <a:ext cx="1682496" cy="6583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5413248" y="932688"/>
            <a:ext cx="168249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LEGAL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61 – 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7095744" y="932688"/>
            <a:ext cx="1682496" cy="658368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7095744" y="932688"/>
            <a:ext cx="168249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81 – 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365760" y="1737360"/>
            <a:ext cx="3977640" cy="3200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457200" y="178308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Configurable Policy (runtime editable)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457200" y="224028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Clause weights: Liability · IP · Payment · Termination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457200" y="2660904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thresholds: per-band cutoffs adjustable in /scoring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457200" y="3081528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Framework rejection rules: force-REJECT on missing HIPAA BAA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457200" y="3502152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changes saved with version number and timestamp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457200" y="3922776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Previous policy versions queryable for audit replay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457200" y="434340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Active policy read by Approval Routing agent at 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4526280" y="1737360"/>
            <a:ext cx="4251960" cy="1417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4617720" y="178308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 Simulator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4617720" y="2176272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Test hypothetical clause combinations against the active policy before saving a new version — available at /scoring without any code changes.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4526280" y="3291840"/>
            <a:ext cx="4251960" cy="1645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4617720" y="333756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Routing Outputs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4617720" y="374904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4617720" y="374904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AUTO_APPROVE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5852160" y="374904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≤ 30, no critical violations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4617720" y="402336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4617720" y="402336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MANAGER_REVIEW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5852160" y="402336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31–60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4617720" y="429768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4617720" y="429768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5852160" y="429768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61–80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4617720" y="457200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4617720" y="457200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5852160" y="457200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&gt; 80 or forced violation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ShieldAI Home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50" y="587450"/>
            <a:ext cx="4315802" cy="217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6950" y="655200"/>
            <a:ext cx="4384650" cy="211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18825"/>
            <a:ext cx="4315802" cy="20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0600" y="2918825"/>
            <a:ext cx="4384650" cy="207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7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Upload Contract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8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Upload Contract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9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Upload Contract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0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Details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2" name="Google Shape;6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327" y="655750"/>
            <a:ext cx="7196826" cy="40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1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Details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9" name="Google Shape;6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500" y="532260"/>
            <a:ext cx="6425400" cy="433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2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Review Queue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22" title="WhatsApp Image 2026-05-16 at 03.04.5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575" y="502810"/>
            <a:ext cx="6942848" cy="433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3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Risk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3" name="Google Shape;663;p23" title="WhatsApp Image 2026-05-16 at 02.54.5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75" y="540450"/>
            <a:ext cx="6719775" cy="450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4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Risk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0" name="Google Shape;670;p24" title="WhatsApp Image 2026-05-16 at 02.54.2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75" y="1242785"/>
            <a:ext cx="8839204" cy="2939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5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7" name="Google Shape;677;p25" title="WhatsApp Image 2026-05-16 at 02.56.5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2360"/>
            <a:ext cx="8839204" cy="364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6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4" name="Google Shape;684;p26" title="WhatsApp Image 2026-05-16 at 02.59.4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125" y="737550"/>
            <a:ext cx="7192428" cy="41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7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1" name="Google Shape;691;p27" title="WhatsApp Image 2026-05-16 at 03.00.0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025" y="639950"/>
            <a:ext cx="6595901" cy="43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8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A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sk Shield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28" title="WhatsApp Image 2026-05-16 at 02.56.1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638" y="502810"/>
            <a:ext cx="6434714" cy="4335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9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" name="Google Shape;705;p29" title="WhatsApp Image 2026-05-16 at 03.01.2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600" y="749785"/>
            <a:ext cx="6660741" cy="419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Results &amp; Key Metrics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Production-ready · Tested · Secure · Compliant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347472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347472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~15s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347472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decision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2066544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2066544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2066544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3785616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3785616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3785616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frameworks checked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5504688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5504688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5504688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Sample contracts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(SEC + synthetic)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7223760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7223760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7223760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services deployed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274320" y="257860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384048" y="264261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Pipeline 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0"/>
          <p:cNvSpPr/>
          <p:nvPr/>
        </p:nvSpPr>
        <p:spPr>
          <a:xfrm>
            <a:off x="384048" y="294436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Low-risk contracts auto-approve in ~15 seconds end-to-end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384048" y="318211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Adversarial contracts quarantined before any LLM call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384048" y="341985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fallback: 1.5 Flash automatically retried on model failure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4709160" y="257860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0"/>
          <p:cNvSpPr/>
          <p:nvPr/>
        </p:nvSpPr>
        <p:spPr>
          <a:xfrm>
            <a:off x="4818888" y="264261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Security &amp;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0"/>
          <p:cNvSpPr/>
          <p:nvPr/>
        </p:nvSpPr>
        <p:spPr>
          <a:xfrm>
            <a:off x="4818888" y="294436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Two-layer DPI gate (Lobster Trap + offline regex)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0"/>
          <p:cNvSpPr/>
          <p:nvPr/>
        </p:nvSpPr>
        <p:spPr>
          <a:xfrm>
            <a:off x="4818888" y="318211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 regulatory frameworks: HIPAA · GDPR · CCPA · SOC 2 · PCI-DSS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/>
          <p:nvPr/>
        </p:nvSpPr>
        <p:spPr>
          <a:xfrm>
            <a:off x="4818888" y="341985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Immutable append-only audit log — every decision recorded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274320" y="376732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384048" y="383133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Engineering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384048" y="413308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80+ unit &amp; integration tests — Gemini fully mocked in CI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384048" y="437083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Pydantic-validated JSON from every agent — no free-form strings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0"/>
          <p:cNvSpPr/>
          <p:nvPr/>
        </p:nvSpPr>
        <p:spPr>
          <a:xfrm>
            <a:off x="384048" y="460857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21 demo contracts tested in pipeline regression suite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0"/>
          <p:cNvSpPr/>
          <p:nvPr/>
        </p:nvSpPr>
        <p:spPr>
          <a:xfrm>
            <a:off x="4709160" y="376732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0"/>
          <p:cNvSpPr/>
          <p:nvPr/>
        </p:nvSpPr>
        <p:spPr>
          <a:xfrm>
            <a:off x="4818888" y="383133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Production-Ready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4818888" y="413308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 Cloud Run services with Cloud Build CI/CD on push to main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4818888" y="437083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Database migrations managed with Alembic — Cloud Run Job pre-deploy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4818888" y="460857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Scoring policy runtime-editable — zero redeploy for policy changes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Cloud Run · Cloud Build · Artifact Registry · Secret Manager · Automated migrations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457200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457200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 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31"/>
          <p:cNvCxnSpPr/>
          <p:nvPr/>
        </p:nvCxnSpPr>
        <p:spPr>
          <a:xfrm>
            <a:off x="1691640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8" name="Google Shape;758;p31"/>
          <p:cNvSpPr/>
          <p:nvPr/>
        </p:nvSpPr>
        <p:spPr>
          <a:xfrm>
            <a:off x="1856232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1856232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0" name="Google Shape;760;p31"/>
          <p:cNvCxnSpPr/>
          <p:nvPr/>
        </p:nvCxnSpPr>
        <p:spPr>
          <a:xfrm>
            <a:off x="3090672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31"/>
          <p:cNvSpPr/>
          <p:nvPr/>
        </p:nvSpPr>
        <p:spPr>
          <a:xfrm>
            <a:off x="3255264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3255264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3" name="Google Shape;763;p31"/>
          <p:cNvCxnSpPr/>
          <p:nvPr/>
        </p:nvCxnSpPr>
        <p:spPr>
          <a:xfrm>
            <a:off x="4489704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4" name="Google Shape;764;p31"/>
          <p:cNvSpPr/>
          <p:nvPr/>
        </p:nvSpPr>
        <p:spPr>
          <a:xfrm>
            <a:off x="4654296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4654296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Push 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Artifact Registry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6" name="Google Shape;766;p31"/>
          <p:cNvCxnSpPr/>
          <p:nvPr/>
        </p:nvCxnSpPr>
        <p:spPr>
          <a:xfrm>
            <a:off x="5888736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7" name="Google Shape;767;p31"/>
          <p:cNvSpPr/>
          <p:nvPr/>
        </p:nvSpPr>
        <p:spPr>
          <a:xfrm>
            <a:off x="6053328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6053328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Migrations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9" name="Google Shape;769;p31"/>
          <p:cNvCxnSpPr/>
          <p:nvPr/>
        </p:nvCxnSpPr>
        <p:spPr>
          <a:xfrm>
            <a:off x="7287768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0" name="Google Shape;770;p31"/>
          <p:cNvSpPr/>
          <p:nvPr/>
        </p:nvSpPr>
        <p:spPr>
          <a:xfrm>
            <a:off x="7452360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7452360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256032" y="1828800"/>
            <a:ext cx="2798064" cy="3108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256032" y="1828800"/>
            <a:ext cx="2798064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347472" y="188366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shield-backend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347472" y="23042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FastAPI + Python 3.11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347472" y="26700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 Gi memory · Concurrency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347472" y="303580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Timeout: 300 seconds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347472" y="34015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Healthcheck: GET /health every 30s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347472" y="376732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Cloud SQL via Unix socket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347472" y="41330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Secrets from Secret Manager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3200400" y="1828800"/>
            <a:ext cx="2798064" cy="3108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3200400" y="1828800"/>
            <a:ext cx="2798064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3291840" y="188366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shield-frontend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1"/>
          <p:cNvSpPr/>
          <p:nvPr/>
        </p:nvSpPr>
        <p:spPr>
          <a:xfrm>
            <a:off x="3291840" y="23042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Next.js 16 standalone 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1"/>
          <p:cNvSpPr/>
          <p:nvPr/>
        </p:nvSpPr>
        <p:spPr>
          <a:xfrm>
            <a:off x="3291840" y="26700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512 Mi memory · Concurrency 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1"/>
          <p:cNvSpPr/>
          <p:nvPr/>
        </p:nvSpPr>
        <p:spPr>
          <a:xfrm>
            <a:off x="3291840" y="303580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BACKEND_URL injected at 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1"/>
          <p:cNvSpPr/>
          <p:nvPr/>
        </p:nvSpPr>
        <p:spPr>
          <a:xfrm>
            <a:off x="3291840" y="34015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Proxies all API calls server-side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1"/>
          <p:cNvSpPr/>
          <p:nvPr/>
        </p:nvSpPr>
        <p:spPr>
          <a:xfrm>
            <a:off x="3291840" y="376732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Static 21 sample PDFs served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1"/>
          <p:cNvSpPr/>
          <p:nvPr/>
        </p:nvSpPr>
        <p:spPr>
          <a:xfrm>
            <a:off x="3291840" y="41330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output: standalone (Docker)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6144768" y="1828800"/>
            <a:ext cx="2798064" cy="3108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6144768" y="1828800"/>
            <a:ext cx="2798064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1"/>
          <p:cNvSpPr/>
          <p:nvPr/>
        </p:nvSpPr>
        <p:spPr>
          <a:xfrm>
            <a:off x="6236208" y="188366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shield-lobstertrap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6236208" y="23042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Veea DPI proxy sidecar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6236208" y="26700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512 Mi memory · Concurrency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6236208" y="303580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Internal-only (never public)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6236208" y="34015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Backend calls via internal hostname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6236208" y="376732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Fallback: offline regex pattern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6236208" y="41330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LOBSTERTRAP_TIMEOUT_SEC=5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Makefile targets: make gcp-setup  ·  make gcp-secrets  ·  make gcp-build  ·  make gcp-push  ·  make gcp-migrate  ·  make gcp-deploy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2"/>
          <p:cNvSpPr/>
          <p:nvPr/>
        </p:nvSpPr>
        <p:spPr>
          <a:xfrm>
            <a:off x="411480" y="201168"/>
            <a:ext cx="1737360" cy="256032"/>
          </a:xfrm>
          <a:prstGeom prst="roundRect">
            <a:avLst>
              <a:gd fmla="val 15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2"/>
          <p:cNvSpPr txBox="1"/>
          <p:nvPr/>
        </p:nvSpPr>
        <p:spPr>
          <a:xfrm>
            <a:off x="41148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PRICING MODEL</a:t>
            </a:r>
            <a:endParaRPr/>
          </a:p>
        </p:txBody>
      </p:sp>
      <p:sp>
        <p:nvSpPr>
          <p:cNvPr id="806" name="Google Shape;806;p32"/>
          <p:cNvSpPr txBox="1"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Transparent Pricing for Enterprise Scale</a:t>
            </a:r>
            <a:endParaRPr/>
          </a:p>
        </p:txBody>
      </p:sp>
      <p:sp>
        <p:nvSpPr>
          <p:cNvPr id="807" name="Google Shape;807;p32"/>
          <p:cNvSpPr txBox="1"/>
          <p:nvPr/>
        </p:nvSpPr>
        <p:spPr>
          <a:xfrm>
            <a:off x="411480" y="11155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AI-powered contract review at a fraction of traditional legal costs — pay per contract processed</a:t>
            </a:r>
            <a:endParaRPr/>
          </a:p>
        </p:txBody>
      </p:sp>
      <p:sp>
        <p:nvSpPr>
          <p:cNvPr id="808" name="Google Shape;808;p32"/>
          <p:cNvSpPr/>
          <p:nvPr/>
        </p:nvSpPr>
        <p:spPr>
          <a:xfrm>
            <a:off x="411480" y="1508760"/>
            <a:ext cx="2103120" cy="1417320"/>
          </a:xfrm>
          <a:prstGeom prst="roundRect">
            <a:avLst>
              <a:gd fmla="val 20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2"/>
          <p:cNvSpPr txBox="1"/>
          <p:nvPr/>
        </p:nvSpPr>
        <p:spPr>
          <a:xfrm>
            <a:off x="502920" y="160020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/>
          </a:p>
        </p:txBody>
      </p:sp>
      <p:sp>
        <p:nvSpPr>
          <p:cNvPr id="810" name="Google Shape;810;p32"/>
          <p:cNvSpPr txBox="1"/>
          <p:nvPr/>
        </p:nvSpPr>
        <p:spPr>
          <a:xfrm>
            <a:off x="502920" y="181051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$0.90</a:t>
            </a:r>
            <a:endParaRPr/>
          </a:p>
        </p:txBody>
      </p:sp>
      <p:sp>
        <p:nvSpPr>
          <p:cNvPr id="811" name="Google Shape;811;p32"/>
          <p:cNvSpPr txBox="1"/>
          <p:nvPr/>
        </p:nvSpPr>
        <p:spPr>
          <a:xfrm>
            <a:off x="502920" y="235915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contract</a:t>
            </a:r>
            <a:endParaRPr/>
          </a:p>
        </p:txBody>
      </p:sp>
      <p:sp>
        <p:nvSpPr>
          <p:cNvPr id="812" name="Google Shape;812;p32"/>
          <p:cNvSpPr txBox="1"/>
          <p:nvPr/>
        </p:nvSpPr>
        <p:spPr>
          <a:xfrm>
            <a:off x="502920" y="258775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vs $1,000–$5,000 attorney review</a:t>
            </a:r>
            <a:endParaRPr/>
          </a:p>
        </p:txBody>
      </p:sp>
      <p:sp>
        <p:nvSpPr>
          <p:cNvPr id="813" name="Google Shape;813;p32"/>
          <p:cNvSpPr/>
          <p:nvPr/>
        </p:nvSpPr>
        <p:spPr>
          <a:xfrm>
            <a:off x="411480" y="3017520"/>
            <a:ext cx="2103120" cy="804672"/>
          </a:xfrm>
          <a:prstGeom prst="roundRect">
            <a:avLst>
              <a:gd fmla="val 20000" name="adj"/>
            </a:avLst>
          </a:prstGeom>
          <a:solidFill>
            <a:srgbClr val="78350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2"/>
          <p:cNvSpPr txBox="1"/>
          <p:nvPr/>
        </p:nvSpPr>
        <p:spPr>
          <a:xfrm>
            <a:off x="502920" y="30632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Traditional Legal Cost</a:t>
            </a:r>
            <a:endParaRPr/>
          </a:p>
        </p:txBody>
      </p:sp>
      <p:sp>
        <p:nvSpPr>
          <p:cNvPr id="815" name="Google Shape;815;p32"/>
          <p:cNvSpPr txBox="1"/>
          <p:nvPr/>
        </p:nvSpPr>
        <p:spPr>
          <a:xfrm>
            <a:off x="502920" y="33101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$1,000 – $5,000 / contract</a:t>
            </a:r>
            <a:endParaRPr/>
          </a:p>
        </p:txBody>
      </p:sp>
      <p:sp>
        <p:nvSpPr>
          <p:cNvPr id="816" name="Google Shape;816;p32"/>
          <p:cNvSpPr/>
          <p:nvPr/>
        </p:nvSpPr>
        <p:spPr>
          <a:xfrm>
            <a:off x="2651760" y="1508760"/>
            <a:ext cx="6080760" cy="347472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2"/>
          <p:cNvSpPr txBox="1"/>
          <p:nvPr/>
        </p:nvSpPr>
        <p:spPr>
          <a:xfrm>
            <a:off x="2697479" y="1536192"/>
            <a:ext cx="82295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/ Month</a:t>
            </a:r>
            <a:endParaRPr/>
          </a:p>
        </p:txBody>
      </p:sp>
      <p:sp>
        <p:nvSpPr>
          <p:cNvPr id="818" name="Google Shape;818;p32"/>
          <p:cNvSpPr txBox="1"/>
          <p:nvPr/>
        </p:nvSpPr>
        <p:spPr>
          <a:xfrm>
            <a:off x="3566160" y="1536192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Price</a:t>
            </a:r>
            <a:endParaRPr/>
          </a:p>
        </p:txBody>
      </p:sp>
      <p:sp>
        <p:nvSpPr>
          <p:cNvPr id="819" name="Google Shape;819;p32"/>
          <p:cNvSpPr txBox="1"/>
          <p:nvPr/>
        </p:nvSpPr>
        <p:spPr>
          <a:xfrm>
            <a:off x="4507992" y="1536192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Cost</a:t>
            </a:r>
            <a:endParaRPr/>
          </a:p>
        </p:txBody>
      </p:sp>
      <p:sp>
        <p:nvSpPr>
          <p:cNvPr id="820" name="Google Shape;820;p32"/>
          <p:cNvSpPr txBox="1"/>
          <p:nvPr/>
        </p:nvSpPr>
        <p:spPr>
          <a:xfrm>
            <a:off x="5458968" y="1536192"/>
            <a:ext cx="9418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Annual Cost</a:t>
            </a:r>
            <a:endParaRPr/>
          </a:p>
        </p:txBody>
      </p:sp>
      <p:sp>
        <p:nvSpPr>
          <p:cNvPr id="821" name="Google Shape;821;p32"/>
          <p:cNvSpPr txBox="1"/>
          <p:nvPr/>
        </p:nvSpPr>
        <p:spPr>
          <a:xfrm>
            <a:off x="6446520" y="153619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Est. Savings*</a:t>
            </a:r>
            <a:endParaRPr/>
          </a:p>
        </p:txBody>
      </p:sp>
      <p:sp>
        <p:nvSpPr>
          <p:cNvPr id="822" name="Google Shape;822;p32"/>
          <p:cNvSpPr/>
          <p:nvPr/>
        </p:nvSpPr>
        <p:spPr>
          <a:xfrm>
            <a:off x="2651760" y="1856231"/>
            <a:ext cx="6080760" cy="310896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2"/>
          <p:cNvSpPr txBox="1"/>
          <p:nvPr/>
        </p:nvSpPr>
        <p:spPr>
          <a:xfrm>
            <a:off x="2697474" y="1911100"/>
            <a:ext cx="1015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100 contracts</a:t>
            </a:r>
            <a:endParaRPr/>
          </a:p>
        </p:txBody>
      </p:sp>
      <p:sp>
        <p:nvSpPr>
          <p:cNvPr id="824" name="Google Shape;824;p32"/>
          <p:cNvSpPr txBox="1"/>
          <p:nvPr/>
        </p:nvSpPr>
        <p:spPr>
          <a:xfrm>
            <a:off x="3566160" y="1911095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$2.50</a:t>
            </a:r>
            <a:endParaRPr/>
          </a:p>
        </p:txBody>
      </p:sp>
      <p:sp>
        <p:nvSpPr>
          <p:cNvPr id="825" name="Google Shape;825;p32"/>
          <p:cNvSpPr txBox="1"/>
          <p:nvPr/>
        </p:nvSpPr>
        <p:spPr>
          <a:xfrm>
            <a:off x="4507992" y="1911095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$250</a:t>
            </a:r>
            <a:endParaRPr/>
          </a:p>
        </p:txBody>
      </p:sp>
      <p:sp>
        <p:nvSpPr>
          <p:cNvPr id="826" name="Google Shape;826;p32"/>
          <p:cNvSpPr txBox="1"/>
          <p:nvPr/>
        </p:nvSpPr>
        <p:spPr>
          <a:xfrm>
            <a:off x="5458968" y="1911095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$3,000</a:t>
            </a:r>
            <a:endParaRPr/>
          </a:p>
        </p:txBody>
      </p:sp>
      <p:sp>
        <p:nvSpPr>
          <p:cNvPr id="827" name="Google Shape;827;p32"/>
          <p:cNvSpPr txBox="1"/>
          <p:nvPr/>
        </p:nvSpPr>
        <p:spPr>
          <a:xfrm>
            <a:off x="6446520" y="1911095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$97,000</a:t>
            </a:r>
            <a:endParaRPr/>
          </a:p>
        </p:txBody>
      </p:sp>
      <p:sp>
        <p:nvSpPr>
          <p:cNvPr id="828" name="Google Shape;828;p32"/>
          <p:cNvSpPr/>
          <p:nvPr/>
        </p:nvSpPr>
        <p:spPr>
          <a:xfrm>
            <a:off x="2651760" y="2185415"/>
            <a:ext cx="6080760" cy="310896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2"/>
          <p:cNvSpPr txBox="1"/>
          <p:nvPr/>
        </p:nvSpPr>
        <p:spPr>
          <a:xfrm>
            <a:off x="2697474" y="2240275"/>
            <a:ext cx="98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1,000 contracts</a:t>
            </a:r>
            <a:endParaRPr/>
          </a:p>
        </p:txBody>
      </p:sp>
      <p:sp>
        <p:nvSpPr>
          <p:cNvPr id="830" name="Google Shape;830;p32"/>
          <p:cNvSpPr txBox="1"/>
          <p:nvPr/>
        </p:nvSpPr>
        <p:spPr>
          <a:xfrm>
            <a:off x="3566160" y="2240279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$1.80</a:t>
            </a:r>
            <a:endParaRPr/>
          </a:p>
        </p:txBody>
      </p:sp>
      <p:sp>
        <p:nvSpPr>
          <p:cNvPr id="831" name="Google Shape;831;p32"/>
          <p:cNvSpPr txBox="1"/>
          <p:nvPr/>
        </p:nvSpPr>
        <p:spPr>
          <a:xfrm>
            <a:off x="4507992" y="2240279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$1,800</a:t>
            </a:r>
            <a:endParaRPr/>
          </a:p>
        </p:txBody>
      </p:sp>
      <p:sp>
        <p:nvSpPr>
          <p:cNvPr id="832" name="Google Shape;832;p32"/>
          <p:cNvSpPr txBox="1"/>
          <p:nvPr/>
        </p:nvSpPr>
        <p:spPr>
          <a:xfrm>
            <a:off x="5458968" y="2240279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$21,600</a:t>
            </a:r>
            <a:endParaRPr/>
          </a:p>
        </p:txBody>
      </p:sp>
      <p:sp>
        <p:nvSpPr>
          <p:cNvPr id="833" name="Google Shape;833;p32"/>
          <p:cNvSpPr txBox="1"/>
          <p:nvPr/>
        </p:nvSpPr>
        <p:spPr>
          <a:xfrm>
            <a:off x="6446520" y="2240279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$978,400</a:t>
            </a:r>
            <a:endParaRPr/>
          </a:p>
        </p:txBody>
      </p:sp>
      <p:sp>
        <p:nvSpPr>
          <p:cNvPr id="834" name="Google Shape;834;p32"/>
          <p:cNvSpPr/>
          <p:nvPr/>
        </p:nvSpPr>
        <p:spPr>
          <a:xfrm>
            <a:off x="2651760" y="2514600"/>
            <a:ext cx="6080760" cy="310896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2"/>
          <p:cNvSpPr txBox="1"/>
          <p:nvPr/>
        </p:nvSpPr>
        <p:spPr>
          <a:xfrm>
            <a:off x="2697475" y="2569475"/>
            <a:ext cx="1074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2,000 contracts</a:t>
            </a:r>
            <a:endParaRPr/>
          </a:p>
        </p:txBody>
      </p:sp>
      <p:sp>
        <p:nvSpPr>
          <p:cNvPr id="836" name="Google Shape;836;p32"/>
          <p:cNvSpPr txBox="1"/>
          <p:nvPr/>
        </p:nvSpPr>
        <p:spPr>
          <a:xfrm>
            <a:off x="3566160" y="2569464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$1.50</a:t>
            </a:r>
            <a:endParaRPr/>
          </a:p>
        </p:txBody>
      </p:sp>
      <p:sp>
        <p:nvSpPr>
          <p:cNvPr id="837" name="Google Shape;837;p32"/>
          <p:cNvSpPr txBox="1"/>
          <p:nvPr/>
        </p:nvSpPr>
        <p:spPr>
          <a:xfrm>
            <a:off x="4507992" y="2569464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$3,000</a:t>
            </a:r>
            <a:endParaRPr/>
          </a:p>
        </p:txBody>
      </p:sp>
      <p:sp>
        <p:nvSpPr>
          <p:cNvPr id="838" name="Google Shape;838;p32"/>
          <p:cNvSpPr txBox="1"/>
          <p:nvPr/>
        </p:nvSpPr>
        <p:spPr>
          <a:xfrm>
            <a:off x="5458968" y="2569464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$36,000</a:t>
            </a:r>
            <a:endParaRPr/>
          </a:p>
        </p:txBody>
      </p:sp>
      <p:sp>
        <p:nvSpPr>
          <p:cNvPr id="839" name="Google Shape;839;p32"/>
          <p:cNvSpPr txBox="1"/>
          <p:nvPr/>
        </p:nvSpPr>
        <p:spPr>
          <a:xfrm>
            <a:off x="6446520" y="256946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$1,964,000</a:t>
            </a:r>
            <a:endParaRPr/>
          </a:p>
        </p:txBody>
      </p:sp>
      <p:sp>
        <p:nvSpPr>
          <p:cNvPr id="840" name="Google Shape;840;p32"/>
          <p:cNvSpPr/>
          <p:nvPr/>
        </p:nvSpPr>
        <p:spPr>
          <a:xfrm>
            <a:off x="2651760" y="2843784"/>
            <a:ext cx="6080760" cy="310896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2"/>
          <p:cNvSpPr txBox="1"/>
          <p:nvPr/>
        </p:nvSpPr>
        <p:spPr>
          <a:xfrm>
            <a:off x="2697474" y="2898650"/>
            <a:ext cx="1074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5,000 contracts</a:t>
            </a:r>
            <a:endParaRPr/>
          </a:p>
        </p:txBody>
      </p:sp>
      <p:sp>
        <p:nvSpPr>
          <p:cNvPr id="842" name="Google Shape;842;p32"/>
          <p:cNvSpPr txBox="1"/>
          <p:nvPr/>
        </p:nvSpPr>
        <p:spPr>
          <a:xfrm>
            <a:off x="3566160" y="2898648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$1.20</a:t>
            </a:r>
            <a:endParaRPr/>
          </a:p>
        </p:txBody>
      </p:sp>
      <p:sp>
        <p:nvSpPr>
          <p:cNvPr id="843" name="Google Shape;843;p32"/>
          <p:cNvSpPr txBox="1"/>
          <p:nvPr/>
        </p:nvSpPr>
        <p:spPr>
          <a:xfrm>
            <a:off x="4507992" y="2898648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$6,000</a:t>
            </a:r>
            <a:endParaRPr/>
          </a:p>
        </p:txBody>
      </p:sp>
      <p:sp>
        <p:nvSpPr>
          <p:cNvPr id="844" name="Google Shape;844;p32"/>
          <p:cNvSpPr txBox="1"/>
          <p:nvPr/>
        </p:nvSpPr>
        <p:spPr>
          <a:xfrm>
            <a:off x="5458968" y="2898648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$72,000</a:t>
            </a:r>
            <a:endParaRPr/>
          </a:p>
        </p:txBody>
      </p:sp>
      <p:sp>
        <p:nvSpPr>
          <p:cNvPr id="845" name="Google Shape;845;p32"/>
          <p:cNvSpPr txBox="1"/>
          <p:nvPr/>
        </p:nvSpPr>
        <p:spPr>
          <a:xfrm>
            <a:off x="6446520" y="289864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$4,928,000</a:t>
            </a:r>
            <a:endParaRPr/>
          </a:p>
        </p:txBody>
      </p:sp>
      <p:sp>
        <p:nvSpPr>
          <p:cNvPr id="846" name="Google Shape;846;p32"/>
          <p:cNvSpPr/>
          <p:nvPr/>
        </p:nvSpPr>
        <p:spPr>
          <a:xfrm>
            <a:off x="2651760" y="3172968"/>
            <a:ext cx="6080760" cy="310896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2"/>
          <p:cNvSpPr txBox="1"/>
          <p:nvPr/>
        </p:nvSpPr>
        <p:spPr>
          <a:xfrm>
            <a:off x="2697474" y="3227825"/>
            <a:ext cx="1074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10,000 contracts</a:t>
            </a:r>
            <a:endParaRPr/>
          </a:p>
        </p:txBody>
      </p:sp>
      <p:sp>
        <p:nvSpPr>
          <p:cNvPr id="848" name="Google Shape;848;p32"/>
          <p:cNvSpPr txBox="1"/>
          <p:nvPr/>
        </p:nvSpPr>
        <p:spPr>
          <a:xfrm>
            <a:off x="3566160" y="3227832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$0.90</a:t>
            </a:r>
            <a:endParaRPr/>
          </a:p>
        </p:txBody>
      </p:sp>
      <p:sp>
        <p:nvSpPr>
          <p:cNvPr id="849" name="Google Shape;849;p32"/>
          <p:cNvSpPr txBox="1"/>
          <p:nvPr/>
        </p:nvSpPr>
        <p:spPr>
          <a:xfrm>
            <a:off x="4507992" y="3227832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$9,000</a:t>
            </a:r>
            <a:endParaRPr/>
          </a:p>
        </p:txBody>
      </p:sp>
      <p:sp>
        <p:nvSpPr>
          <p:cNvPr id="850" name="Google Shape;850;p32"/>
          <p:cNvSpPr txBox="1"/>
          <p:nvPr/>
        </p:nvSpPr>
        <p:spPr>
          <a:xfrm>
            <a:off x="5458968" y="3227832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$108,000</a:t>
            </a:r>
            <a:endParaRPr/>
          </a:p>
        </p:txBody>
      </p:sp>
      <p:sp>
        <p:nvSpPr>
          <p:cNvPr id="851" name="Google Shape;851;p32"/>
          <p:cNvSpPr txBox="1"/>
          <p:nvPr/>
        </p:nvSpPr>
        <p:spPr>
          <a:xfrm>
            <a:off x="6446520" y="322783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$9,892,000</a:t>
            </a:r>
            <a:endParaRPr/>
          </a:p>
        </p:txBody>
      </p:sp>
      <p:sp>
        <p:nvSpPr>
          <p:cNvPr id="852" name="Google Shape;852;p32"/>
          <p:cNvSpPr txBox="1"/>
          <p:nvPr/>
        </p:nvSpPr>
        <p:spPr>
          <a:xfrm>
            <a:off x="2651760" y="3538728"/>
            <a:ext cx="6080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* Savings vs. $1,000/contract traditional attorney review cost (conservative estimate)</a:t>
            </a:r>
            <a:endParaRPr/>
          </a:p>
        </p:txBody>
      </p:sp>
      <p:sp>
        <p:nvSpPr>
          <p:cNvPr id="853" name="Google Shape;853;p32"/>
          <p:cNvSpPr/>
          <p:nvPr/>
        </p:nvSpPr>
        <p:spPr>
          <a:xfrm>
            <a:off x="153275" y="3858775"/>
            <a:ext cx="2361300" cy="841200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411480" y="3858768"/>
            <a:ext cx="2697480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2"/>
          <p:cNvSpPr txBox="1"/>
          <p:nvPr/>
        </p:nvSpPr>
        <p:spPr>
          <a:xfrm>
            <a:off x="548640" y="3904487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⚡  15-Second</a:t>
            </a:r>
            <a:b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/>
          </a:p>
        </p:txBody>
      </p:sp>
      <p:sp>
        <p:nvSpPr>
          <p:cNvPr id="856" name="Google Shape;856;p32"/>
          <p:cNvSpPr txBox="1"/>
          <p:nvPr/>
        </p:nvSpPr>
        <p:spPr>
          <a:xfrm>
            <a:off x="548640" y="4224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 3–5 day attorney turnaround</a:t>
            </a:r>
            <a:endParaRPr/>
          </a:p>
        </p:txBody>
      </p:sp>
      <p:sp>
        <p:nvSpPr>
          <p:cNvPr id="857" name="Google Shape;857;p32"/>
          <p:cNvSpPr/>
          <p:nvPr/>
        </p:nvSpPr>
        <p:spPr>
          <a:xfrm>
            <a:off x="2660904" y="3858768"/>
            <a:ext cx="2724912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2"/>
          <p:cNvSpPr/>
          <p:nvPr/>
        </p:nvSpPr>
        <p:spPr>
          <a:xfrm>
            <a:off x="3319272" y="3858768"/>
            <a:ext cx="2697480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2"/>
          <p:cNvSpPr txBox="1"/>
          <p:nvPr/>
        </p:nvSpPr>
        <p:spPr>
          <a:xfrm>
            <a:off x="3456432" y="3904487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🔒  Zero Legal</a:t>
            </a:r>
            <a:b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Liability Risk</a:t>
            </a:r>
            <a:endParaRPr/>
          </a:p>
        </p:txBody>
      </p:sp>
      <p:sp>
        <p:nvSpPr>
          <p:cNvPr id="860" name="Google Shape;860;p32"/>
          <p:cNvSpPr txBox="1"/>
          <p:nvPr/>
        </p:nvSpPr>
        <p:spPr>
          <a:xfrm>
            <a:off x="3456432" y="4224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Adversarial docs auto-quarantined</a:t>
            </a:r>
            <a:endParaRPr/>
          </a:p>
        </p:txBody>
      </p:sp>
      <p:sp>
        <p:nvSpPr>
          <p:cNvPr id="861" name="Google Shape;861;p32"/>
          <p:cNvSpPr/>
          <p:nvPr/>
        </p:nvSpPr>
        <p:spPr>
          <a:xfrm>
            <a:off x="5532120" y="3858768"/>
            <a:ext cx="2724912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2"/>
          <p:cNvSpPr/>
          <p:nvPr/>
        </p:nvSpPr>
        <p:spPr>
          <a:xfrm>
            <a:off x="6227064" y="3858768"/>
            <a:ext cx="2697480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2"/>
          <p:cNvSpPr txBox="1"/>
          <p:nvPr/>
        </p:nvSpPr>
        <p:spPr>
          <a:xfrm>
            <a:off x="6364224" y="3904487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📊  Full Audit</a:t>
            </a:r>
            <a:b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Trail</a:t>
            </a:r>
            <a:endParaRPr/>
          </a:p>
        </p:txBody>
      </p:sp>
      <p:sp>
        <p:nvSpPr>
          <p:cNvPr id="864" name="Google Shape;864;p32"/>
          <p:cNvSpPr txBox="1"/>
          <p:nvPr/>
        </p:nvSpPr>
        <p:spPr>
          <a:xfrm>
            <a:off x="6364224" y="4224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decision logged &amp; exportable</a:t>
            </a:r>
            <a:endParaRPr/>
          </a:p>
        </p:txBody>
      </p:sp>
      <p:sp>
        <p:nvSpPr>
          <p:cNvPr id="865" name="Google Shape;865;p32"/>
          <p:cNvSpPr txBox="1"/>
          <p:nvPr/>
        </p:nvSpPr>
        <p:spPr>
          <a:xfrm>
            <a:off x="411480" y="4864608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Shield AI  ·  Confidential  ·  Volume discounts and enterprise SLAs available on request</a:t>
            </a:r>
            <a:endParaRPr/>
          </a:p>
        </p:txBody>
      </p:sp>
      <p:sp>
        <p:nvSpPr>
          <p:cNvPr id="866" name="Google Shape;866;p32"/>
          <p:cNvSpPr txBox="1"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3"/>
          <p:cNvSpPr/>
          <p:nvPr/>
        </p:nvSpPr>
        <p:spPr>
          <a:xfrm>
            <a:off x="411480" y="201168"/>
            <a:ext cx="1920240" cy="256032"/>
          </a:xfrm>
          <a:prstGeom prst="roundRect">
            <a:avLst>
              <a:gd fmla="val 15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3"/>
          <p:cNvSpPr txBox="1"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/>
          </a:p>
        </p:txBody>
      </p:sp>
      <p:sp>
        <p:nvSpPr>
          <p:cNvPr id="873" name="Google Shape;873;p33"/>
          <p:cNvSpPr txBox="1"/>
          <p:nvPr/>
        </p:nvSpPr>
        <p:spPr>
          <a:xfrm>
            <a:off x="411480" y="53035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Why Shield AI vs. Existing Solutions?</a:t>
            </a:r>
            <a:endParaRPr/>
          </a:p>
        </p:txBody>
      </p:sp>
      <p:sp>
        <p:nvSpPr>
          <p:cNvPr id="874" name="Google Shape;874;p33"/>
          <p:cNvSpPr/>
          <p:nvPr/>
        </p:nvSpPr>
        <p:spPr>
          <a:xfrm>
            <a:off x="411480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3"/>
          <p:cNvSpPr txBox="1"/>
          <p:nvPr/>
        </p:nvSpPr>
        <p:spPr>
          <a:xfrm>
            <a:off x="521208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DocuSign CLM</a:t>
            </a:r>
            <a:endParaRPr/>
          </a:p>
        </p:txBody>
      </p:sp>
      <p:sp>
        <p:nvSpPr>
          <p:cNvPr id="876" name="Google Shape;876;p33"/>
          <p:cNvSpPr txBox="1"/>
          <p:nvPr/>
        </p:nvSpPr>
        <p:spPr>
          <a:xfrm>
            <a:off x="521208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Contract lifecycle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/>
          </a:p>
        </p:txBody>
      </p:sp>
      <p:sp>
        <p:nvSpPr>
          <p:cNvPr id="877" name="Google Shape;877;p33"/>
          <p:cNvSpPr/>
          <p:nvPr/>
        </p:nvSpPr>
        <p:spPr>
          <a:xfrm>
            <a:off x="2587752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3"/>
          <p:cNvSpPr txBox="1"/>
          <p:nvPr/>
        </p:nvSpPr>
        <p:spPr>
          <a:xfrm>
            <a:off x="2697480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Ironclad</a:t>
            </a:r>
            <a:endParaRPr/>
          </a:p>
        </p:txBody>
      </p:sp>
      <p:sp>
        <p:nvSpPr>
          <p:cNvPr id="879" name="Google Shape;879;p33"/>
          <p:cNvSpPr txBox="1"/>
          <p:nvPr/>
        </p:nvSpPr>
        <p:spPr>
          <a:xfrm>
            <a:off x="2697480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Workflow &amp; approvals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/>
          </a:p>
        </p:txBody>
      </p:sp>
      <p:sp>
        <p:nvSpPr>
          <p:cNvPr id="880" name="Google Shape;880;p33"/>
          <p:cNvSpPr/>
          <p:nvPr/>
        </p:nvSpPr>
        <p:spPr>
          <a:xfrm>
            <a:off x="4764024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3"/>
          <p:cNvSpPr txBox="1"/>
          <p:nvPr/>
        </p:nvSpPr>
        <p:spPr>
          <a:xfrm>
            <a:off x="4873752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Kira / Luminance</a:t>
            </a:r>
            <a:endParaRPr/>
          </a:p>
        </p:txBody>
      </p:sp>
      <p:sp>
        <p:nvSpPr>
          <p:cNvPr id="882" name="Google Shape;882;p33"/>
          <p:cNvSpPr txBox="1"/>
          <p:nvPr/>
        </p:nvSpPr>
        <p:spPr>
          <a:xfrm>
            <a:off x="4873752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ML clause extraction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 legal teams</a:t>
            </a:r>
            <a:endParaRPr/>
          </a:p>
        </p:txBody>
      </p:sp>
      <p:sp>
        <p:nvSpPr>
          <p:cNvPr id="883" name="Google Shape;883;p33"/>
          <p:cNvSpPr/>
          <p:nvPr/>
        </p:nvSpPr>
        <p:spPr>
          <a:xfrm>
            <a:off x="6940296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3"/>
          <p:cNvSpPr txBox="1"/>
          <p:nvPr/>
        </p:nvSpPr>
        <p:spPr>
          <a:xfrm>
            <a:off x="7050024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Harvey AI</a:t>
            </a:r>
            <a:endParaRPr/>
          </a:p>
        </p:txBody>
      </p:sp>
      <p:sp>
        <p:nvSpPr>
          <p:cNvPr id="885" name="Google Shape;885;p33"/>
          <p:cNvSpPr txBox="1"/>
          <p:nvPr/>
        </p:nvSpPr>
        <p:spPr>
          <a:xfrm>
            <a:off x="7050024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 legal assistant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chat interface</a:t>
            </a:r>
            <a:endParaRPr/>
          </a:p>
        </p:txBody>
      </p:sp>
      <p:sp>
        <p:nvSpPr>
          <p:cNvPr id="886" name="Google Shape;886;p33"/>
          <p:cNvSpPr/>
          <p:nvPr/>
        </p:nvSpPr>
        <p:spPr>
          <a:xfrm>
            <a:off x="411475" y="1849875"/>
            <a:ext cx="8586300" cy="3615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3"/>
          <p:cNvSpPr txBox="1"/>
          <p:nvPr/>
        </p:nvSpPr>
        <p:spPr>
          <a:xfrm>
            <a:off x="486958" y="1879997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 sz="1445"/>
          </a:p>
        </p:txBody>
      </p:sp>
      <p:sp>
        <p:nvSpPr>
          <p:cNvPr id="888" name="Google Shape;888;p33"/>
          <p:cNvSpPr txBox="1"/>
          <p:nvPr/>
        </p:nvSpPr>
        <p:spPr>
          <a:xfrm>
            <a:off x="2024919" y="1879997"/>
            <a:ext cx="159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DocuSign / Ironclad</a:t>
            </a:r>
            <a:endParaRPr sz="1445"/>
          </a:p>
        </p:txBody>
      </p:sp>
      <p:sp>
        <p:nvSpPr>
          <p:cNvPr id="889" name="Google Shape;889;p33"/>
          <p:cNvSpPr txBox="1"/>
          <p:nvPr/>
        </p:nvSpPr>
        <p:spPr>
          <a:xfrm>
            <a:off x="3694975" y="1879997"/>
            <a:ext cx="152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Kira / Luminance</a:t>
            </a:r>
            <a:endParaRPr sz="1445"/>
          </a:p>
        </p:txBody>
      </p:sp>
      <p:sp>
        <p:nvSpPr>
          <p:cNvPr id="890" name="Google Shape;890;p33"/>
          <p:cNvSpPr txBox="1"/>
          <p:nvPr/>
        </p:nvSpPr>
        <p:spPr>
          <a:xfrm>
            <a:off x="5298983" y="1879997"/>
            <a:ext cx="1556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Harvey AI</a:t>
            </a:r>
            <a:endParaRPr sz="1445"/>
          </a:p>
        </p:txBody>
      </p:sp>
      <p:sp>
        <p:nvSpPr>
          <p:cNvPr id="891" name="Google Shape;891;p33"/>
          <p:cNvSpPr txBox="1"/>
          <p:nvPr/>
        </p:nvSpPr>
        <p:spPr>
          <a:xfrm>
            <a:off x="6931298" y="1879997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Shield AI ✦</a:t>
            </a:r>
            <a:endParaRPr sz="1445"/>
          </a:p>
        </p:txBody>
      </p:sp>
      <p:sp>
        <p:nvSpPr>
          <p:cNvPr id="892" name="Google Shape;892;p33"/>
          <p:cNvSpPr/>
          <p:nvPr/>
        </p:nvSpPr>
        <p:spPr>
          <a:xfrm>
            <a:off x="411475" y="2211340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3"/>
          <p:cNvSpPr txBox="1"/>
          <p:nvPr/>
        </p:nvSpPr>
        <p:spPr>
          <a:xfrm>
            <a:off x="486958" y="2251503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AI Risk Scoring 0–100</a:t>
            </a:r>
            <a:endParaRPr sz="1445"/>
          </a:p>
        </p:txBody>
      </p:sp>
      <p:sp>
        <p:nvSpPr>
          <p:cNvPr id="894" name="Google Shape;894;p33"/>
          <p:cNvSpPr txBox="1"/>
          <p:nvPr/>
        </p:nvSpPr>
        <p:spPr>
          <a:xfrm>
            <a:off x="2024919" y="2251503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95" name="Google Shape;895;p33"/>
          <p:cNvSpPr txBox="1"/>
          <p:nvPr/>
        </p:nvSpPr>
        <p:spPr>
          <a:xfrm>
            <a:off x="3694975" y="2251503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896" name="Google Shape;896;p33"/>
          <p:cNvSpPr txBox="1"/>
          <p:nvPr/>
        </p:nvSpPr>
        <p:spPr>
          <a:xfrm>
            <a:off x="5298983" y="2251503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897" name="Google Shape;897;p33"/>
          <p:cNvSpPr txBox="1"/>
          <p:nvPr/>
        </p:nvSpPr>
        <p:spPr>
          <a:xfrm>
            <a:off x="6931298" y="2251503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898" name="Google Shape;898;p33"/>
          <p:cNvSpPr/>
          <p:nvPr/>
        </p:nvSpPr>
        <p:spPr>
          <a:xfrm>
            <a:off x="411475" y="2520594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3"/>
          <p:cNvSpPr txBox="1"/>
          <p:nvPr/>
        </p:nvSpPr>
        <p:spPr>
          <a:xfrm>
            <a:off x="486958" y="2560757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Multi-agent pipeline</a:t>
            </a:r>
            <a:endParaRPr sz="1445"/>
          </a:p>
        </p:txBody>
      </p:sp>
      <p:sp>
        <p:nvSpPr>
          <p:cNvPr id="900" name="Google Shape;900;p33"/>
          <p:cNvSpPr txBox="1"/>
          <p:nvPr/>
        </p:nvSpPr>
        <p:spPr>
          <a:xfrm>
            <a:off x="2024919" y="2560757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01" name="Google Shape;901;p33"/>
          <p:cNvSpPr txBox="1"/>
          <p:nvPr/>
        </p:nvSpPr>
        <p:spPr>
          <a:xfrm>
            <a:off x="3694975" y="2560757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02" name="Google Shape;902;p33"/>
          <p:cNvSpPr txBox="1"/>
          <p:nvPr/>
        </p:nvSpPr>
        <p:spPr>
          <a:xfrm>
            <a:off x="5298983" y="2560757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03" name="Google Shape;903;p33"/>
          <p:cNvSpPr txBox="1"/>
          <p:nvPr/>
        </p:nvSpPr>
        <p:spPr>
          <a:xfrm>
            <a:off x="6931298" y="2560757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04" name="Google Shape;904;p33"/>
          <p:cNvSpPr/>
          <p:nvPr/>
        </p:nvSpPr>
        <p:spPr>
          <a:xfrm>
            <a:off x="411475" y="2829847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3"/>
          <p:cNvSpPr txBox="1"/>
          <p:nvPr/>
        </p:nvSpPr>
        <p:spPr>
          <a:xfrm>
            <a:off x="486958" y="2870010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Adversarial doc detection</a:t>
            </a:r>
            <a:endParaRPr sz="1445"/>
          </a:p>
        </p:txBody>
      </p:sp>
      <p:sp>
        <p:nvSpPr>
          <p:cNvPr id="906" name="Google Shape;906;p33"/>
          <p:cNvSpPr txBox="1"/>
          <p:nvPr/>
        </p:nvSpPr>
        <p:spPr>
          <a:xfrm>
            <a:off x="2024919" y="2870010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07" name="Google Shape;907;p33"/>
          <p:cNvSpPr txBox="1"/>
          <p:nvPr/>
        </p:nvSpPr>
        <p:spPr>
          <a:xfrm>
            <a:off x="3694975" y="2870010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08" name="Google Shape;908;p33"/>
          <p:cNvSpPr txBox="1"/>
          <p:nvPr/>
        </p:nvSpPr>
        <p:spPr>
          <a:xfrm>
            <a:off x="5298983" y="2870010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09" name="Google Shape;909;p33"/>
          <p:cNvSpPr txBox="1"/>
          <p:nvPr/>
        </p:nvSpPr>
        <p:spPr>
          <a:xfrm>
            <a:off x="6931298" y="2870010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10" name="Google Shape;910;p33"/>
          <p:cNvSpPr/>
          <p:nvPr/>
        </p:nvSpPr>
        <p:spPr>
          <a:xfrm>
            <a:off x="411475" y="3139101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3"/>
          <p:cNvSpPr txBox="1"/>
          <p:nvPr/>
        </p:nvSpPr>
        <p:spPr>
          <a:xfrm>
            <a:off x="486951" y="3179269"/>
            <a:ext cx="2123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HIPAA / GDPR / SOC2 compliance</a:t>
            </a:r>
            <a:endParaRPr sz="1445"/>
          </a:p>
        </p:txBody>
      </p:sp>
      <p:sp>
        <p:nvSpPr>
          <p:cNvPr id="912" name="Google Shape;912;p33"/>
          <p:cNvSpPr txBox="1"/>
          <p:nvPr/>
        </p:nvSpPr>
        <p:spPr>
          <a:xfrm>
            <a:off x="2024919" y="3179264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13" name="Google Shape;913;p33"/>
          <p:cNvSpPr txBox="1"/>
          <p:nvPr/>
        </p:nvSpPr>
        <p:spPr>
          <a:xfrm>
            <a:off x="3694975" y="3179264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14" name="Google Shape;914;p33"/>
          <p:cNvSpPr txBox="1"/>
          <p:nvPr/>
        </p:nvSpPr>
        <p:spPr>
          <a:xfrm>
            <a:off x="5298983" y="3179264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15" name="Google Shape;915;p33"/>
          <p:cNvSpPr txBox="1"/>
          <p:nvPr/>
        </p:nvSpPr>
        <p:spPr>
          <a:xfrm>
            <a:off x="6931298" y="3179264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16" name="Google Shape;916;p33"/>
          <p:cNvSpPr/>
          <p:nvPr/>
        </p:nvSpPr>
        <p:spPr>
          <a:xfrm>
            <a:off x="411475" y="3448354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3"/>
          <p:cNvSpPr txBox="1"/>
          <p:nvPr/>
        </p:nvSpPr>
        <p:spPr>
          <a:xfrm>
            <a:off x="486947" y="3488512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Auto-approve / quarantine</a:t>
            </a:r>
            <a:endParaRPr sz="1445"/>
          </a:p>
        </p:txBody>
      </p:sp>
      <p:sp>
        <p:nvSpPr>
          <p:cNvPr id="918" name="Google Shape;918;p33"/>
          <p:cNvSpPr txBox="1"/>
          <p:nvPr/>
        </p:nvSpPr>
        <p:spPr>
          <a:xfrm>
            <a:off x="2024919" y="3488517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19" name="Google Shape;919;p33"/>
          <p:cNvSpPr txBox="1"/>
          <p:nvPr/>
        </p:nvSpPr>
        <p:spPr>
          <a:xfrm>
            <a:off x="3694975" y="3488517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0" name="Google Shape;920;p33"/>
          <p:cNvSpPr txBox="1"/>
          <p:nvPr/>
        </p:nvSpPr>
        <p:spPr>
          <a:xfrm>
            <a:off x="5298983" y="3488517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1" name="Google Shape;921;p33"/>
          <p:cNvSpPr txBox="1"/>
          <p:nvPr/>
        </p:nvSpPr>
        <p:spPr>
          <a:xfrm>
            <a:off x="6931298" y="3488517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22" name="Google Shape;922;p33"/>
          <p:cNvSpPr/>
          <p:nvPr/>
        </p:nvSpPr>
        <p:spPr>
          <a:xfrm>
            <a:off x="411475" y="3757608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3"/>
          <p:cNvSpPr txBox="1"/>
          <p:nvPr/>
        </p:nvSpPr>
        <p:spPr>
          <a:xfrm>
            <a:off x="486947" y="3797782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 audit trail + explainability</a:t>
            </a:r>
            <a:endParaRPr sz="1445"/>
          </a:p>
        </p:txBody>
      </p:sp>
      <p:sp>
        <p:nvSpPr>
          <p:cNvPr id="924" name="Google Shape;924;p33"/>
          <p:cNvSpPr txBox="1"/>
          <p:nvPr/>
        </p:nvSpPr>
        <p:spPr>
          <a:xfrm>
            <a:off x="2024919" y="3797771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25" name="Google Shape;925;p33"/>
          <p:cNvSpPr txBox="1"/>
          <p:nvPr/>
        </p:nvSpPr>
        <p:spPr>
          <a:xfrm>
            <a:off x="3694975" y="3797771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6" name="Google Shape;926;p33"/>
          <p:cNvSpPr txBox="1"/>
          <p:nvPr/>
        </p:nvSpPr>
        <p:spPr>
          <a:xfrm>
            <a:off x="5298983" y="3797771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7" name="Google Shape;927;p33"/>
          <p:cNvSpPr txBox="1"/>
          <p:nvPr/>
        </p:nvSpPr>
        <p:spPr>
          <a:xfrm>
            <a:off x="6931298" y="3797771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28" name="Google Shape;928;p33"/>
          <p:cNvSpPr/>
          <p:nvPr/>
        </p:nvSpPr>
        <p:spPr>
          <a:xfrm>
            <a:off x="411475" y="4066862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3"/>
          <p:cNvSpPr txBox="1"/>
          <p:nvPr/>
        </p:nvSpPr>
        <p:spPr>
          <a:xfrm>
            <a:off x="486948" y="4107024"/>
            <a:ext cx="204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On-prem / VPC deployment</a:t>
            </a:r>
            <a:endParaRPr sz="1445"/>
          </a:p>
        </p:txBody>
      </p:sp>
      <p:sp>
        <p:nvSpPr>
          <p:cNvPr id="930" name="Google Shape;930;p33"/>
          <p:cNvSpPr txBox="1"/>
          <p:nvPr/>
        </p:nvSpPr>
        <p:spPr>
          <a:xfrm>
            <a:off x="2024919" y="4107025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31" name="Google Shape;931;p33"/>
          <p:cNvSpPr txBox="1"/>
          <p:nvPr/>
        </p:nvSpPr>
        <p:spPr>
          <a:xfrm>
            <a:off x="3694975" y="4107025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32" name="Google Shape;932;p33"/>
          <p:cNvSpPr txBox="1"/>
          <p:nvPr/>
        </p:nvSpPr>
        <p:spPr>
          <a:xfrm>
            <a:off x="5298983" y="4107025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33" name="Google Shape;933;p33"/>
          <p:cNvSpPr txBox="1"/>
          <p:nvPr/>
        </p:nvSpPr>
        <p:spPr>
          <a:xfrm>
            <a:off x="6931298" y="4107025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34" name="Google Shape;934;p33"/>
          <p:cNvSpPr/>
          <p:nvPr/>
        </p:nvSpPr>
        <p:spPr>
          <a:xfrm>
            <a:off x="411475" y="4376116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3"/>
          <p:cNvSpPr txBox="1"/>
          <p:nvPr/>
        </p:nvSpPr>
        <p:spPr>
          <a:xfrm>
            <a:off x="486947" y="4416267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Per-contract pricing from $0.90</a:t>
            </a:r>
            <a:endParaRPr sz="1445"/>
          </a:p>
        </p:txBody>
      </p:sp>
      <p:sp>
        <p:nvSpPr>
          <p:cNvPr id="936" name="Google Shape;936;p33"/>
          <p:cNvSpPr txBox="1"/>
          <p:nvPr/>
        </p:nvSpPr>
        <p:spPr>
          <a:xfrm>
            <a:off x="2024919" y="4416279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37" name="Google Shape;937;p33"/>
          <p:cNvSpPr txBox="1"/>
          <p:nvPr/>
        </p:nvSpPr>
        <p:spPr>
          <a:xfrm>
            <a:off x="3694975" y="4416279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38" name="Google Shape;938;p33"/>
          <p:cNvSpPr txBox="1"/>
          <p:nvPr/>
        </p:nvSpPr>
        <p:spPr>
          <a:xfrm>
            <a:off x="5298983" y="4416279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39" name="Google Shape;939;p33"/>
          <p:cNvSpPr txBox="1"/>
          <p:nvPr/>
        </p:nvSpPr>
        <p:spPr>
          <a:xfrm>
            <a:off x="6931298" y="4416279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40" name="Google Shape;940;p33"/>
          <p:cNvSpPr txBox="1"/>
          <p:nvPr/>
        </p:nvSpPr>
        <p:spPr>
          <a:xfrm>
            <a:off x="8503920" y="4748528"/>
            <a:ext cx="36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160270"/>
          </a:xfrm>
          <a:prstGeom prst="rect">
            <a:avLst/>
          </a:prstGeom>
          <a:solidFill>
            <a:srgbClr val="1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097280" y="109728"/>
            <a:ext cx="548639" cy="0"/>
          </a:xfrm>
          <a:prstGeom prst="line">
            <a:avLst/>
          </a:prstGeom>
          <a:ln w="762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109728"/>
            <a:ext cx="548640" cy="0"/>
          </a:xfrm>
          <a:prstGeom prst="line">
            <a:avLst/>
          </a:prstGeom>
          <a:ln w="762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109728"/>
            <a:ext cx="548640" cy="0"/>
          </a:xfrm>
          <a:prstGeom prst="line">
            <a:avLst/>
          </a:prstGeom>
          <a:ln w="762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89520" y="109728"/>
            <a:ext cx="548640" cy="0"/>
          </a:xfrm>
          <a:prstGeom prst="line">
            <a:avLst/>
          </a:prstGeom>
          <a:ln w="762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109728"/>
            <a:ext cx="0" cy="210312"/>
          </a:xfrm>
          <a:prstGeom prst="line">
            <a:avLst/>
          </a:prstGeom>
          <a:ln w="762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38160" y="109728"/>
            <a:ext cx="0" cy="210312"/>
          </a:xfrm>
          <a:prstGeom prst="line">
            <a:avLst/>
          </a:prstGeom>
          <a:ln w="762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74720" y="256032"/>
            <a:ext cx="2194560" cy="0"/>
          </a:xfrm>
          <a:prstGeom prst="line">
            <a:avLst/>
          </a:prstGeom>
          <a:ln w="63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8229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B8A6"/>
                </a:solidFill>
              </a:rPr>
              <a:t>Team  Byte Theory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ourier New"/>
              </a:rPr>
              <a:t>byte by byte, we turn theory into reality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72184"/>
            <a:ext cx="2743200" cy="137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572768"/>
            <a:ext cx="3749039" cy="1810512"/>
          </a:xfrm>
          <a:prstGeom prst="rect">
            <a:avLst/>
          </a:prstGeom>
          <a:solidFill>
            <a:srgbClr val="1E2D4F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1572768"/>
            <a:ext cx="3749039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1664208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Yashas Nagesh Gowda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1993392"/>
            <a:ext cx="3419856" cy="201168"/>
          </a:xfrm>
          <a:prstGeom prst="rect">
            <a:avLst/>
          </a:prstGeom>
          <a:solidFill>
            <a:srgbClr val="1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1997964"/>
            <a:ext cx="3364991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4B8A6"/>
                </a:solidFill>
              </a:rPr>
              <a:t>Co-Founder &amp; AI Engineer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" y="2240280"/>
            <a:ext cx="3419856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30428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4B8A6"/>
                </a:solidFill>
              </a:rPr>
              <a:t>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304288"/>
            <a:ext cx="32186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</a:rPr>
              <a:t>linkedin.com/in/yashasngowda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257860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4B8A6"/>
                </a:solidFill>
              </a:rPr>
              <a:t>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578608"/>
            <a:ext cx="32186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yashasgowdanov@gmail.com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285292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4B8A6"/>
                </a:solidFill>
              </a:rPr>
              <a:t>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2852928"/>
            <a:ext cx="32186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+1 (850) 900-6288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59" y="1572768"/>
            <a:ext cx="3749039" cy="1810512"/>
          </a:xfrm>
          <a:prstGeom prst="rect">
            <a:avLst/>
          </a:prstGeom>
          <a:solidFill>
            <a:srgbClr val="1E2D4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59" y="1572768"/>
            <a:ext cx="3749039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1" y="1664208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Sumith G.S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3751" y="1993392"/>
            <a:ext cx="3419856" cy="201168"/>
          </a:xfrm>
          <a:prstGeom prst="rect">
            <a:avLst/>
          </a:prstGeom>
          <a:solidFill>
            <a:srgbClr val="1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01183" y="1997964"/>
            <a:ext cx="3364991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</a:rPr>
              <a:t>Co-Founder &amp; AI Engineer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3751" y="2240280"/>
            <a:ext cx="3419856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73751" y="230428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3AED"/>
                </a:solidFill>
              </a:rPr>
              <a:t>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304288"/>
            <a:ext cx="32186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</a:rPr>
              <a:t>linkedin.com/in/sumithgs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1" y="257860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3AED"/>
                </a:solidFill>
              </a:rPr>
              <a:t>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578608"/>
            <a:ext cx="32186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sumithgs2000@gmail.com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1" y="285292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3AED"/>
                </a:solidFill>
              </a:rPr>
              <a:t>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2852928"/>
            <a:ext cx="32186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+1 (850) 381-3548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47594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4A70"/>
                </a:solidFill>
                <a:latin typeface="Courier New"/>
              </a:rPr>
              <a:t>while(alive) { think(); build(); break(); repeat();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